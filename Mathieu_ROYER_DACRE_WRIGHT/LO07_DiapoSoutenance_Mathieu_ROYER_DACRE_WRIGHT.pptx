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</p:sldIdLst>
  <p:sldSz cx="9144000" cy="5143500" type="screen16x9"/>
  <p:notesSz cx="6858000" cy="9144000"/>
  <p:embeddedFontLst>
    <p:embeddedFont>
      <p:font typeface="Quattrocento Sans" panose="020B05020500000200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ab80c325_2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5fab80c325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fab80c325_5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5fab80c325_5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fab80c325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5fab80c325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fab80c325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5fab80c325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fab80c325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5fab80c325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fab80c325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5fab80c325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fab80c32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5fab80c32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fab80c325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5fab80c325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b008c4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5fb008c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894B876B-4DBC-2050-73EE-1C2C7E27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b008c44d_0_0:notes">
            <a:extLst>
              <a:ext uri="{FF2B5EF4-FFF2-40B4-BE49-F238E27FC236}">
                <a16:creationId xmlns:a16="http://schemas.microsoft.com/office/drawing/2014/main" id="{F8F37E77-39F9-0C71-07AB-4F54E6A8E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5fb008c44d_0_0:notes">
            <a:extLst>
              <a:ext uri="{FF2B5EF4-FFF2-40B4-BE49-F238E27FC236}">
                <a16:creationId xmlns:a16="http://schemas.microsoft.com/office/drawing/2014/main" id="{ED47A54A-DC69-A3B1-EC3F-B621528C7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10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fb008c44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5fb008c44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Page de gar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t="45625" r="3497" b="483"/>
          <a:stretch/>
        </p:blipFill>
        <p:spPr>
          <a:xfrm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-1" y="4752976"/>
            <a:ext cx="9144000" cy="390524"/>
          </a:xfrm>
          <a:prstGeom prst="rect">
            <a:avLst/>
          </a:prstGeom>
          <a:solidFill>
            <a:srgbClr val="0000CE">
              <a:alpha val="2980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2286000" y="1850231"/>
            <a:ext cx="6858000" cy="1241821"/>
          </a:xfrm>
          <a:prstGeom prst="rect">
            <a:avLst/>
          </a:prstGeom>
          <a:solidFill>
            <a:srgbClr val="0000CE">
              <a:alpha val="2980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286000" y="1850231"/>
            <a:ext cx="6466115" cy="78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Quattrocento Sans"/>
              <a:buNone/>
              <a:defRPr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2285999" y="2701528"/>
            <a:ext cx="6466115" cy="39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2" name="Google Shape;62;p14" descr="Une image contenant dessin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319" y="136744"/>
            <a:ext cx="1688620" cy="62160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7025708" y="3225113"/>
            <a:ext cx="1726406" cy="49172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3"/>
          </p:nvPr>
        </p:nvSpPr>
        <p:spPr>
          <a:xfrm>
            <a:off x="165497" y="4820840"/>
            <a:ext cx="3813572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4"/>
          </p:nvPr>
        </p:nvSpPr>
        <p:spPr>
          <a:xfrm>
            <a:off x="7192565" y="4820840"/>
            <a:ext cx="178593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maire">
  <p:cSld name="Sommai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l="-1" t="79481" r="-3514" b="10199"/>
          <a:stretch/>
        </p:blipFill>
        <p:spPr>
          <a:xfrm>
            <a:off x="1" y="-44650"/>
            <a:ext cx="9465333" cy="950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Une image contenant dessin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35" y="44650"/>
            <a:ext cx="1688620" cy="621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628650" y="1972552"/>
            <a:ext cx="645903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1364888" y="1972551"/>
            <a:ext cx="5868590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3"/>
          </p:nvPr>
        </p:nvSpPr>
        <p:spPr>
          <a:xfrm>
            <a:off x="7601624" y="1973584"/>
            <a:ext cx="1044179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4"/>
          </p:nvPr>
        </p:nvSpPr>
        <p:spPr>
          <a:xfrm>
            <a:off x="626496" y="2489391"/>
            <a:ext cx="645903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5"/>
          </p:nvPr>
        </p:nvSpPr>
        <p:spPr>
          <a:xfrm>
            <a:off x="1362734" y="2489390"/>
            <a:ext cx="5868590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6"/>
          </p:nvPr>
        </p:nvSpPr>
        <p:spPr>
          <a:xfrm>
            <a:off x="7599470" y="2490423"/>
            <a:ext cx="1044179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7"/>
          </p:nvPr>
        </p:nvSpPr>
        <p:spPr>
          <a:xfrm>
            <a:off x="626496" y="3006230"/>
            <a:ext cx="645903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8"/>
          </p:nvPr>
        </p:nvSpPr>
        <p:spPr>
          <a:xfrm>
            <a:off x="1362734" y="3006230"/>
            <a:ext cx="5868590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9"/>
          </p:nvPr>
        </p:nvSpPr>
        <p:spPr>
          <a:xfrm>
            <a:off x="7599470" y="3007262"/>
            <a:ext cx="1044179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3"/>
          </p:nvPr>
        </p:nvSpPr>
        <p:spPr>
          <a:xfrm>
            <a:off x="626496" y="3523070"/>
            <a:ext cx="645903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4"/>
          </p:nvPr>
        </p:nvSpPr>
        <p:spPr>
          <a:xfrm>
            <a:off x="1362734" y="3523069"/>
            <a:ext cx="5868590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5"/>
          </p:nvPr>
        </p:nvSpPr>
        <p:spPr>
          <a:xfrm>
            <a:off x="7599470" y="3524102"/>
            <a:ext cx="1044179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6"/>
          </p:nvPr>
        </p:nvSpPr>
        <p:spPr>
          <a:xfrm>
            <a:off x="626496" y="4035517"/>
            <a:ext cx="645903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7"/>
          </p:nvPr>
        </p:nvSpPr>
        <p:spPr>
          <a:xfrm>
            <a:off x="1362734" y="4035516"/>
            <a:ext cx="5868590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8"/>
          </p:nvPr>
        </p:nvSpPr>
        <p:spPr>
          <a:xfrm>
            <a:off x="7599470" y="4036549"/>
            <a:ext cx="1044179" cy="4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215699" y="1126672"/>
            <a:ext cx="2588733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 i="0" u="none" strike="noStrike" cap="none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Sommaire</a:t>
            </a:r>
            <a:endParaRPr sz="1100"/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7086600" y="48749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rtie">
  <p:cSld name="Transition parti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 rotWithShape="1">
          <a:blip r:embed="rId2">
            <a:alphaModFix/>
          </a:blip>
          <a:srcRect l="23119" t="2664" r="63917" b="3500"/>
          <a:stretch/>
        </p:blipFill>
        <p:spPr>
          <a:xfrm>
            <a:off x="0" y="-1"/>
            <a:ext cx="191088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descr="Une image contenant dessin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0888" y="98516"/>
            <a:ext cx="1714500" cy="6200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2157153" y="2310578"/>
            <a:ext cx="6643239" cy="5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7086600" y="48696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gradFill>
            <a:gsLst>
              <a:gs pos="0">
                <a:srgbClr val="000066"/>
              </a:gs>
              <a:gs pos="57000">
                <a:srgbClr val="004DA2"/>
              </a:gs>
              <a:gs pos="100000">
                <a:srgbClr val="009CDE"/>
              </a:gs>
            </a:gsLst>
            <a:lin ang="135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0" y="160733"/>
            <a:ext cx="7425344" cy="32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17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4813" y="65256"/>
            <a:ext cx="1392019" cy="5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7086600" y="48696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2"/>
          </p:nvPr>
        </p:nvSpPr>
        <p:spPr>
          <a:xfrm>
            <a:off x="628650" y="977699"/>
            <a:ext cx="7886700" cy="365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, sous-titre et contenu">
  <p:cSld name="Titre, sous-titre et contenu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628650" y="977699"/>
            <a:ext cx="7886700" cy="365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gradFill>
            <a:gsLst>
              <a:gs pos="0">
                <a:srgbClr val="000066"/>
              </a:gs>
              <a:gs pos="57000">
                <a:srgbClr val="004DA2"/>
              </a:gs>
              <a:gs pos="100000">
                <a:srgbClr val="009CDE"/>
              </a:gs>
            </a:gsLst>
            <a:lin ang="135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2"/>
          </p:nvPr>
        </p:nvSpPr>
        <p:spPr>
          <a:xfrm>
            <a:off x="0" y="0"/>
            <a:ext cx="7475220" cy="32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3"/>
          </p:nvPr>
        </p:nvSpPr>
        <p:spPr>
          <a:xfrm>
            <a:off x="389334" y="321469"/>
            <a:ext cx="7085886" cy="35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5" name="Google Shape;105;p18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4813" y="65256"/>
            <a:ext cx="1392019" cy="51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7086600" y="48696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1 bloc">
  <p:cSld name="Contenu 1 bloc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628650" y="923731"/>
            <a:ext cx="7886700" cy="370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0" name="Google Shape;110;p19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7169" y="66903"/>
            <a:ext cx="1413206" cy="51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7086600" y="485871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2 blocs">
  <p:cSld name="Contenu 2 bloc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628649" y="923731"/>
            <a:ext cx="3738077" cy="370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20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7169" y="66903"/>
            <a:ext cx="1413206" cy="51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7086600" y="485871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4777276" y="923731"/>
            <a:ext cx="3738077" cy="370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3 blocs">
  <p:cSld name="Contenu 3 bloc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628649" y="923731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1" name="Google Shape;121;p21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7169" y="66903"/>
            <a:ext cx="1413206" cy="51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7086600" y="485871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2"/>
          </p:nvPr>
        </p:nvSpPr>
        <p:spPr>
          <a:xfrm>
            <a:off x="4777276" y="923731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3"/>
          </p:nvPr>
        </p:nvSpPr>
        <p:spPr>
          <a:xfrm>
            <a:off x="628649" y="2806457"/>
            <a:ext cx="7886702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4 blocs">
  <p:cSld name="Contenu 4 bloc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628649" y="923731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8" name="Google Shape;128;p22" descr="Une image contenant dessin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7169" y="66903"/>
            <a:ext cx="1413206" cy="510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5350" y="4469639"/>
            <a:ext cx="628650" cy="6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7086600" y="485871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2"/>
          </p:nvPr>
        </p:nvSpPr>
        <p:spPr>
          <a:xfrm>
            <a:off x="4777276" y="923731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3"/>
          </p:nvPr>
        </p:nvSpPr>
        <p:spPr>
          <a:xfrm>
            <a:off x="628649" y="2821619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4"/>
          </p:nvPr>
        </p:nvSpPr>
        <p:spPr>
          <a:xfrm>
            <a:off x="4777276" y="2821619"/>
            <a:ext cx="3738077" cy="16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crédits">
  <p:cSld name="Slide de crédits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descr="Une image contenant extérieur, herbe, bâtiment, clôture&#10;&#10;Description générée automatiquement"/>
          <p:cNvPicPr preferRelativeResize="0"/>
          <p:nvPr/>
        </p:nvPicPr>
        <p:blipFill rotWithShape="1">
          <a:blip r:embed="rId2">
            <a:alphaModFix/>
          </a:blip>
          <a:srcRect t="156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4271963" y="0"/>
            <a:ext cx="4872037" cy="5143500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C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4907756" y="150019"/>
            <a:ext cx="3607594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0" i="0" u="none" strike="noStrike" cap="none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Crédits</a:t>
            </a:r>
            <a:endParaRPr sz="1100"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4429125" y="854818"/>
            <a:ext cx="2386013" cy="28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500"/>
              <a:buNone/>
              <a:defRPr sz="15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2"/>
          </p:nvPr>
        </p:nvSpPr>
        <p:spPr>
          <a:xfrm>
            <a:off x="7022306" y="895920"/>
            <a:ext cx="20574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3"/>
          </p:nvPr>
        </p:nvSpPr>
        <p:spPr>
          <a:xfrm>
            <a:off x="4429125" y="1158014"/>
            <a:ext cx="2386013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body" idx="4"/>
          </p:nvPr>
        </p:nvSpPr>
        <p:spPr>
          <a:xfrm>
            <a:off x="7022305" y="1157288"/>
            <a:ext cx="2057399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5"/>
          </p:nvPr>
        </p:nvSpPr>
        <p:spPr>
          <a:xfrm>
            <a:off x="4429125" y="1563784"/>
            <a:ext cx="2386013" cy="28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500"/>
              <a:buNone/>
              <a:defRPr sz="15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6"/>
          </p:nvPr>
        </p:nvSpPr>
        <p:spPr>
          <a:xfrm>
            <a:off x="7022306" y="1604886"/>
            <a:ext cx="20574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7"/>
          </p:nvPr>
        </p:nvSpPr>
        <p:spPr>
          <a:xfrm>
            <a:off x="4429125" y="1866552"/>
            <a:ext cx="2386013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8"/>
          </p:nvPr>
        </p:nvSpPr>
        <p:spPr>
          <a:xfrm>
            <a:off x="7022305" y="1866254"/>
            <a:ext cx="2057399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9"/>
          </p:nvPr>
        </p:nvSpPr>
        <p:spPr>
          <a:xfrm>
            <a:off x="4429125" y="2312168"/>
            <a:ext cx="2386013" cy="28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500"/>
              <a:buNone/>
              <a:defRPr sz="15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3"/>
          </p:nvPr>
        </p:nvSpPr>
        <p:spPr>
          <a:xfrm>
            <a:off x="7022306" y="2353270"/>
            <a:ext cx="20574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4"/>
          </p:nvPr>
        </p:nvSpPr>
        <p:spPr>
          <a:xfrm>
            <a:off x="4429125" y="2614936"/>
            <a:ext cx="2386013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5"/>
          </p:nvPr>
        </p:nvSpPr>
        <p:spPr>
          <a:xfrm>
            <a:off x="7022305" y="2614638"/>
            <a:ext cx="2057399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6"/>
          </p:nvPr>
        </p:nvSpPr>
        <p:spPr>
          <a:xfrm>
            <a:off x="4429125" y="3061072"/>
            <a:ext cx="2386013" cy="28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500"/>
              <a:buNone/>
              <a:defRPr sz="15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7"/>
          </p:nvPr>
        </p:nvSpPr>
        <p:spPr>
          <a:xfrm>
            <a:off x="7022306" y="3102174"/>
            <a:ext cx="20574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8"/>
          </p:nvPr>
        </p:nvSpPr>
        <p:spPr>
          <a:xfrm>
            <a:off x="4429125" y="3356696"/>
            <a:ext cx="2386013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9"/>
          </p:nvPr>
        </p:nvSpPr>
        <p:spPr>
          <a:xfrm>
            <a:off x="7022305" y="3356399"/>
            <a:ext cx="2057399" cy="20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CE"/>
              </a:buClr>
              <a:buSzPts val="1200"/>
              <a:buNone/>
              <a:defRPr sz="1200">
                <a:solidFill>
                  <a:srgbClr val="0000CE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54" name="Google Shape;154;p23" descr="Une image contenant dessin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0841" y="4122934"/>
            <a:ext cx="2538863" cy="918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fin">
  <p:cSld name="Slide de fi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/>
          <p:cNvPicPr preferRelativeResize="0"/>
          <p:nvPr/>
        </p:nvPicPr>
        <p:blipFill rotWithShape="1">
          <a:blip r:embed="rId2">
            <a:alphaModFix/>
          </a:blip>
          <a:srcRect t="45625" r="3497" b="483"/>
          <a:stretch/>
        </p:blipFill>
        <p:spPr>
          <a:xfrm>
            <a:off x="1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 descr="Une image contenant dessin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133" y="1594874"/>
            <a:ext cx="5307432" cy="195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0" name="Google Shape;210;p3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>
            <a:spLocks noGrp="1"/>
          </p:cNvSpPr>
          <p:nvPr>
            <p:ph type="ctrTitle"/>
          </p:nvPr>
        </p:nvSpPr>
        <p:spPr>
          <a:xfrm>
            <a:off x="2286000" y="1850231"/>
            <a:ext cx="6466115" cy="78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Quattrocento Sans"/>
              <a:buNone/>
            </a:pPr>
            <a:r>
              <a:rPr lang="fr"/>
              <a:t>LO07 : Technologie du Web</a:t>
            </a:r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subTitle" idx="1"/>
          </p:nvPr>
        </p:nvSpPr>
        <p:spPr>
          <a:xfrm>
            <a:off x="2285999" y="2701528"/>
            <a:ext cx="6466115" cy="39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Projet Soutenances P25</a:t>
            </a:r>
            <a:endParaRPr/>
          </a:p>
        </p:txBody>
      </p:sp>
      <p:sp>
        <p:nvSpPr>
          <p:cNvPr id="239" name="Google Shape;239;p37"/>
          <p:cNvSpPr txBox="1">
            <a:spLocks noGrp="1"/>
          </p:cNvSpPr>
          <p:nvPr>
            <p:ph type="body" idx="3"/>
          </p:nvPr>
        </p:nvSpPr>
        <p:spPr>
          <a:xfrm>
            <a:off x="165497" y="4820840"/>
            <a:ext cx="3813572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ROYER DACRE WRIGHT Mathieu 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4"/>
          </p:nvPr>
        </p:nvSpPr>
        <p:spPr>
          <a:xfrm>
            <a:off x="7192565" y="4820840"/>
            <a:ext cx="178593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LEMERCIER Marc P25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/>
        </p:nvSpPr>
        <p:spPr>
          <a:xfrm>
            <a:off x="164225" y="948850"/>
            <a:ext cx="32493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 du projet 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66875" y="1452450"/>
            <a:ext cx="5068800" cy="22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Enjeux : gestion d’une application de gestions de soutenances de projet à 3 acteurs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 principal : mise en œuvre des concepts MVC avec fonctionnalités réelles et persistance des données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550" y="1627325"/>
            <a:ext cx="3703525" cy="238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/>
        </p:nvSpPr>
        <p:spPr>
          <a:xfrm>
            <a:off x="164225" y="948850"/>
            <a:ext cx="32493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Architecture globale 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66875" y="1452450"/>
            <a:ext cx="5068800" cy="22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Schéma MVC effectif du projet</a:t>
            </a:r>
            <a:br>
              <a:rPr lang="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Rappel du rôle de chaque couche (Modèle, Vue, Contrôleur)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Légère modification de la base de donnée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474" y="1091075"/>
            <a:ext cx="1656050" cy="39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6525" y="1091075"/>
            <a:ext cx="1690250" cy="39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300" y="3864575"/>
            <a:ext cx="44005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300" y="4609600"/>
            <a:ext cx="34861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/>
        </p:nvSpPr>
        <p:spPr>
          <a:xfrm>
            <a:off x="164225" y="948850"/>
            <a:ext cx="39906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Choix du routeur : routeur 2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66875" y="1452450"/>
            <a:ext cx="5068800" cy="3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 b="1">
                <a:solidFill>
                  <a:schemeClr val="dk1"/>
                </a:solidFill>
              </a:rPr>
              <a:t>Avantages de cette méthode 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fr" sz="1300">
                <a:solidFill>
                  <a:schemeClr val="dk1"/>
                </a:solidFill>
              </a:rPr>
              <a:t> </a:t>
            </a:r>
            <a:r>
              <a:rPr lang="fr" sz="1300" b="1">
                <a:solidFill>
                  <a:schemeClr val="dk1"/>
                </a:solidFill>
              </a:rPr>
              <a:t>Modularité</a:t>
            </a:r>
            <a:r>
              <a:rPr lang="fr" sz="1300">
                <a:solidFill>
                  <a:schemeClr val="dk1"/>
                </a:solidFill>
              </a:rPr>
              <a:t> : chaque groupe d’actions est isolé et facile à maintenir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fr" sz="1300">
                <a:solidFill>
                  <a:schemeClr val="dk1"/>
                </a:solidFill>
              </a:rPr>
              <a:t> </a:t>
            </a:r>
            <a:r>
              <a:rPr lang="fr" sz="1300" b="1">
                <a:solidFill>
                  <a:schemeClr val="dk1"/>
                </a:solidFill>
              </a:rPr>
              <a:t>Lisibilité</a:t>
            </a:r>
            <a:r>
              <a:rPr lang="fr" sz="1300">
                <a:solidFill>
                  <a:schemeClr val="dk1"/>
                </a:solidFill>
              </a:rPr>
              <a:t> : la structure est claire et extensible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fr" sz="1300">
                <a:solidFill>
                  <a:schemeClr val="dk1"/>
                </a:solidFill>
              </a:rPr>
              <a:t> </a:t>
            </a:r>
            <a:r>
              <a:rPr lang="fr" sz="1300" b="1">
                <a:solidFill>
                  <a:schemeClr val="dk1"/>
                </a:solidFill>
              </a:rPr>
              <a:t>Réduction de duplication</a:t>
            </a:r>
            <a:r>
              <a:rPr lang="fr" sz="1300">
                <a:solidFill>
                  <a:schemeClr val="dk1"/>
                </a:solidFill>
              </a:rPr>
              <a:t> : le nom du contrôleur n’est écrit qu’une fois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fr" sz="1300" b="1">
                <a:solidFill>
                  <a:schemeClr val="dk1"/>
                </a:solidFill>
              </a:rPr>
              <a:t>Extensibilité</a:t>
            </a:r>
            <a:r>
              <a:rPr lang="fr" sz="1300">
                <a:solidFill>
                  <a:schemeClr val="dk1"/>
                </a:solidFill>
              </a:rPr>
              <a:t> : ajout simple d’un contrôleur ou d’une action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550" y="1005125"/>
            <a:ext cx="3703526" cy="313324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 txBox="1"/>
          <p:nvPr/>
        </p:nvSpPr>
        <p:spPr>
          <a:xfrm>
            <a:off x="5539800" y="4220625"/>
            <a:ext cx="3511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un total de 21 méthodes, cette manière de faire est bien plus lisible et facile d’utilisation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403800" y="3808825"/>
            <a:ext cx="44172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Erreur de ma part au moment de le nommer : c’est bien le router2 de TD que j’ai nommé router1 !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Connexion/Inscription 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975" y="948850"/>
            <a:ext cx="23241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0" y="4082500"/>
            <a:ext cx="4885776" cy="8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1"/>
          <p:cNvSpPr txBox="1"/>
          <p:nvPr/>
        </p:nvSpPr>
        <p:spPr>
          <a:xfrm>
            <a:off x="0" y="1531050"/>
            <a:ext cx="41103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fonctionnalités demandés présentes et fonctionnelles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des erreurs partielles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des résultats après inscription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0826" y="2645000"/>
            <a:ext cx="3920824" cy="2049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Responsable 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0" y="1531050"/>
            <a:ext cx="41103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fonctionnalités demandées présentes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des erreurs  -&gt; ajout projet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Génération automatique login pour ajouter examinateur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8875" y="948850"/>
            <a:ext cx="23431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0" y="4514850"/>
            <a:ext cx="38766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940075"/>
            <a:ext cx="3912075" cy="6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2075" y="3970025"/>
            <a:ext cx="3422649" cy="11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Examinateur 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0" y="1531050"/>
            <a:ext cx="42525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fonctionnalités demandées présentes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f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Présentations des informations attendus en tableau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f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Ajout de créneau(x) fonctionnels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-"/>
            </a:pPr>
            <a:r>
              <a:rPr lang="fr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des erreurs sur formats dates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600" y="948850"/>
            <a:ext cx="2981625" cy="26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12450"/>
            <a:ext cx="9144000" cy="13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Etudiant: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4"/>
          <p:cNvSpPr txBox="1"/>
          <p:nvPr/>
        </p:nvSpPr>
        <p:spPr>
          <a:xfrm>
            <a:off x="0" y="1531050"/>
            <a:ext cx="55773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fonctionnalités demandées présentes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N'empêche pas un étudiant d’avoir deux soutenance au même moment (même chose pour les examinateurs)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62046"/>
            <a:ext cx="9143999" cy="1648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Innovation data:</a:t>
            </a:r>
            <a:endParaRPr sz="2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-52039" y="1828416"/>
            <a:ext cx="55773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partie du site est accessible même lorsque l’utilisateur n’est pas connecté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Utiliser les données pour générer des agendas au format </a:t>
            </a:r>
            <a:r>
              <a:rPr lang="fr-FR" sz="2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chaque rôle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Nécessite d’assurer l’impossibilité d’avoir 2 rdv en même temps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Gérez le planning du jour, de la semaine ou du mois - PlanningPME">
            <a:extLst>
              <a:ext uri="{FF2B5EF4-FFF2-40B4-BE49-F238E27FC236}">
                <a16:creationId xmlns:a16="http://schemas.microsoft.com/office/drawing/2014/main" id="{E8E552F3-6D62-C02B-6501-E5D08C3D9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230" y="1405707"/>
            <a:ext cx="3632695" cy="269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F6F134D6-CA9E-8628-7148-B409B177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>
            <a:extLst>
              <a:ext uri="{FF2B5EF4-FFF2-40B4-BE49-F238E27FC236}">
                <a16:creationId xmlns:a16="http://schemas.microsoft.com/office/drawing/2014/main" id="{60448F94-0C7E-2BD9-204F-C3795ECEA032}"/>
              </a:ext>
            </a:extLst>
          </p:cNvPr>
          <p:cNvSpPr txBox="1"/>
          <p:nvPr/>
        </p:nvSpPr>
        <p:spPr>
          <a:xfrm>
            <a:off x="16422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Partie Innovation MVC:</a:t>
            </a:r>
            <a:endParaRPr sz="2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5">
            <a:extLst>
              <a:ext uri="{FF2B5EF4-FFF2-40B4-BE49-F238E27FC236}">
                <a16:creationId xmlns:a16="http://schemas.microsoft.com/office/drawing/2014/main" id="{824EC8F1-ECEB-4496-4355-80E2AAF7C03A}"/>
              </a:ext>
            </a:extLst>
          </p:cNvPr>
          <p:cNvSpPr txBox="1"/>
          <p:nvPr/>
        </p:nvSpPr>
        <p:spPr>
          <a:xfrm>
            <a:off x="0" y="1531050"/>
            <a:ext cx="55773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 dédiée à la validation des données utilisateurs avec règles réutilisables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Permet une modification plus facile pour  maintenance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lang="fr-FR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Gain de place/temps en factorisant</a:t>
            </a: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endParaRPr lang="fr-FR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Les meilleures pratiques en UX pour gérer les erreurs - Arquen">
            <a:extLst>
              <a:ext uri="{FF2B5EF4-FFF2-40B4-BE49-F238E27FC236}">
                <a16:creationId xmlns:a16="http://schemas.microsoft.com/office/drawing/2014/main" id="{84AEBB06-A6D9-CD89-AD22-0C39C7387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98" y="1683450"/>
            <a:ext cx="3640933" cy="20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313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/>
        </p:nvSpPr>
        <p:spPr>
          <a:xfrm>
            <a:off x="81875" y="948850"/>
            <a:ext cx="4252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: 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0" y="1531050"/>
            <a:ext cx="8819100" cy="3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projet est complet dans les fonctionnalités demandée.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implémentation sur dev-isi est fonctionnelle, comme la persistance des données.</a:t>
            </a:r>
            <a:b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manque cependant quelques gestion d’erreurs et aurait pu être développé par exemple en implémentant les innovations proposées.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6"/>
          <p:cNvSpPr txBox="1"/>
          <p:nvPr/>
        </p:nvSpPr>
        <p:spPr>
          <a:xfrm>
            <a:off x="995250" y="3576750"/>
            <a:ext cx="2755200" cy="1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questions 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625" y="3386975"/>
            <a:ext cx="1679075" cy="1632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Affichage à l'écran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Quattrocento Sans</vt:lpstr>
      <vt:lpstr>Calibri</vt:lpstr>
      <vt:lpstr>Simple Light</vt:lpstr>
      <vt:lpstr>Thème Office</vt:lpstr>
      <vt:lpstr>Thème Office</vt:lpstr>
      <vt:lpstr>LO07 : Technologie du Web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 RDW</cp:lastModifiedBy>
  <cp:revision>1</cp:revision>
  <dcterms:modified xsi:type="dcterms:W3CDTF">2025-06-16T10:54:00Z</dcterms:modified>
</cp:coreProperties>
</file>